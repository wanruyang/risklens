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196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RiskLens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E5A7A"/>
                </a:solidFill>
              </a:rPr>
              <a:t>SLIDE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1637"/>
                </a:solidFill>
              </a:rPr>
              <a:t>How RiskLens turns a label into a clearer answer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8"/>
                </a:solidFill>
              </a:rPr>
              <a:t>A simple view of the system behind the app</a:t>
            </a:r>
            <a:endParaRPr lang="en-US" sz="1300" dirty="0"/>
          </a:p>
        </p:txBody>
      </p:sp>
      <p:pic>
        <p:nvPicPr>
          <p:cNvPr id="5" name="Image 0" descr="/Users/adelie/Projects/gemma4good/risklen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384048"/>
            <a:ext cx="2057400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28800"/>
            <a:ext cx="1920240" cy="1325880"/>
          </a:xfrm>
          <a:prstGeom prst="roundRect">
            <a:avLst>
              <a:gd name="adj" fmla="val 11034"/>
            </a:avLst>
          </a:prstGeom>
          <a:solidFill>
            <a:srgbClr val="EAF4F8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197510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1. Product input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" y="2304288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71637"/>
                </a:solidFill>
              </a:rPr>
              <a:t>Photo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71637"/>
                </a:solidFill>
              </a:rPr>
              <a:t>URL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71637"/>
                </a:solidFill>
              </a:rPr>
              <a:t>Typed label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880360" y="1828800"/>
            <a:ext cx="1920240" cy="1325880"/>
          </a:xfrm>
          <a:prstGeom prst="roundRect">
            <a:avLst>
              <a:gd name="adj" fmla="val 11034"/>
            </a:avLst>
          </a:prstGeom>
          <a:solidFill>
            <a:srgbClr val="E9FBFC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08376" y="197510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2. Gemma 4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008376" y="2304288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71637"/>
                </a:solidFill>
              </a:rPr>
              <a:t>Reads 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71637"/>
                </a:solidFill>
              </a:rPr>
              <a:t>identifies product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71637"/>
                </a:solidFill>
              </a:rPr>
              <a:t>explains results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120640" y="1828800"/>
            <a:ext cx="1920240" cy="1325880"/>
          </a:xfrm>
          <a:prstGeom prst="roundRect">
            <a:avLst>
              <a:gd name="adj" fmla="val 11034"/>
            </a:avLst>
          </a:prstGeom>
          <a:solidFill>
            <a:srgbClr val="FFF4D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48656" y="197510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3. Risk library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248656" y="2304288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71637"/>
                </a:solidFill>
              </a:rPr>
              <a:t>Prop 65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71637"/>
                </a:solidFill>
              </a:rPr>
              <a:t>FDA / EU / WHO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71637"/>
                </a:solidFill>
              </a:rPr>
              <a:t>source context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360920" y="1828800"/>
            <a:ext cx="2331720" cy="1325880"/>
          </a:xfrm>
          <a:prstGeom prst="roundRect">
            <a:avLst>
              <a:gd name="adj" fmla="val 11034"/>
            </a:avLst>
          </a:prstGeom>
          <a:solidFill>
            <a:srgbClr val="FFF1F5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88936" y="1975104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4. Consumer answer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488936" y="2304288"/>
            <a:ext cx="2075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71637"/>
                </a:solidFill>
              </a:rPr>
              <a:t>Score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71637"/>
                </a:solidFill>
              </a:rPr>
              <a:t>flags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71637"/>
                </a:solidFill>
              </a:rPr>
              <a:t>plain-language guidance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596896" y="2267712"/>
            <a:ext cx="182880" cy="448056"/>
          </a:xfrm>
          <a:prstGeom prst="chevron">
            <a:avLst/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37176" y="2267712"/>
            <a:ext cx="182880" cy="448056"/>
          </a:xfrm>
          <a:prstGeom prst="chevron">
            <a:avLst/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77456" y="2267712"/>
            <a:ext cx="182880" cy="448056"/>
          </a:xfrm>
          <a:prstGeom prst="chevron">
            <a:avLst/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3703320"/>
            <a:ext cx="530352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4672" y="386791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2700">
            <a:solidFill>
              <a:srgbClr val="EAF4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3918204"/>
            <a:ext cx="1316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A7A"/>
                </a:solidFill>
              </a:rPr>
              <a:t>How we collect data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1248" y="4261104"/>
            <a:ext cx="4709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Real products</a:t>
            </a:r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 from online stores and package photos
</a:t>
            </a:r>
            <a:pPr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Official sources</a:t>
            </a:r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 such as FDA, EU, WHO, and Prop 65
</a:t>
            </a:r>
            <a:pPr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Hard cases</a:t>
            </a:r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 saved for review and improvement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217920" y="3703320"/>
            <a:ext cx="530352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82512" y="3867912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55664" y="3918204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637"/>
                </a:solidFill>
              </a:rPr>
              <a:t>How we evaluate it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19088" y="4261104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Stage 1:</a:t>
            </a:r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 Can it read the label correctly?
</a:t>
            </a:r>
            <a:pPr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Stage 2:</a:t>
            </a:r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 Can it identify the product and explain risk correctly?
</a:t>
            </a:r>
            <a:pPr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Benchmarks:</a:t>
            </a:r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 real images + text cases, compared over time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58368" y="5596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A7A"/>
                </a:solidFill>
              </a:rPr>
              <a:t>Key idea: Gemma 4 is the reasoning engine, while the database keeps the answer grounded.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E5A7A"/>
                </a:solidFill>
              </a:rPr>
              <a:t>SLIDE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1637"/>
                </a:solidFill>
              </a:rPr>
              <a:t>How a person uses RiskLens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8"/>
                </a:solidFill>
              </a:rPr>
              <a:t>Same core workflow on web and Android</a:t>
            </a:r>
            <a:endParaRPr lang="en-US" sz="1300" dirty="0"/>
          </a:p>
        </p:txBody>
      </p:sp>
      <p:pic>
        <p:nvPicPr>
          <p:cNvPr id="5" name="Image 0" descr="/Users/adelie/Projects/gemma4good/risklen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384048"/>
            <a:ext cx="2057400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755648"/>
            <a:ext cx="2971800" cy="1325880"/>
          </a:xfrm>
          <a:prstGeom prst="roundRect">
            <a:avLst>
              <a:gd name="adj" fmla="val 11034"/>
            </a:avLst>
          </a:prstGeom>
          <a:solidFill>
            <a:srgbClr val="EAF4F8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3816" y="190195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5224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61288" y="191109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637"/>
                </a:solidFill>
              </a:rPr>
              <a:t>Add a product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32104" y="232257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Upload photos, paste a URL,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or type the label text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89120" y="1755648"/>
            <a:ext cx="2971800" cy="1325880"/>
          </a:xfrm>
          <a:prstGeom prst="roundRect">
            <a:avLst>
              <a:gd name="adj" fmla="val 11034"/>
            </a:avLst>
          </a:prstGeom>
          <a:solidFill>
            <a:srgbClr val="E9FBFC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17136" y="190195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195224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64608" y="191109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637"/>
                </a:solidFill>
              </a:rPr>
              <a:t>Complete the label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35424" y="232257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If needed, add ingredients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or warning photos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092440" y="1755648"/>
            <a:ext cx="2971800" cy="1325880"/>
          </a:xfrm>
          <a:prstGeom prst="roundRect">
            <a:avLst>
              <a:gd name="adj" fmla="val 11034"/>
            </a:avLst>
          </a:prstGeom>
          <a:solidFill>
            <a:srgbClr val="FFF4D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0456" y="190195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93608" y="195224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567928" y="191109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637"/>
                </a:solidFill>
              </a:rPr>
              <a:t>Get the result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38744" y="232257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See the score, flags,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and plain explanation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703320" y="2212848"/>
            <a:ext cx="182880" cy="457200"/>
          </a:xfrm>
          <a:prstGeom prst="chevron">
            <a:avLst/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06640" y="2212848"/>
            <a:ext cx="182880" cy="457200"/>
          </a:xfrm>
          <a:prstGeom prst="chevron">
            <a:avLst/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5800" y="3703320"/>
            <a:ext cx="5166360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9536" y="3858768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2700">
            <a:solidFill>
              <a:srgbClr val="EAF4F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2688" y="390906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A7A"/>
                </a:solidFill>
              </a:rPr>
              <a:t>Web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96112" y="4224528"/>
            <a:ext cx="2057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Best for: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• pasted URLs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• desktop upload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• review and comparison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292608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A7A"/>
                </a:solidFill>
              </a:rPr>
              <a:t>Type, paste, or drag in product images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126480" y="3703320"/>
            <a:ext cx="5166360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00216" y="3858768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E9FBFC"/>
          </a:solidFill>
          <a:ln w="12700">
            <a:solidFill>
              <a:srgbClr val="E9FBF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73368" y="3909060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A7A"/>
                </a:solidFill>
              </a:rPr>
              <a:t>Android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336792" y="4224528"/>
            <a:ext cx="2057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Best for: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• camera capture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• shopping aisles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• quick label scans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36676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A7A"/>
                </a:solidFill>
              </a:rPr>
              <a:t>Take a photo, then review the same result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13232" y="56144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A7A"/>
                </a:solidFill>
              </a:rPr>
              <a:t>One product at a time. If the label is incomplete, RiskLens asks for better evidence instead of guessing.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E5A7A"/>
                </a:solidFill>
              </a:rPr>
              <a:t>SLIDE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1637"/>
                </a:solidFill>
              </a:rPr>
              <a:t>What the score and flags mean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8"/>
                </a:solidFill>
              </a:rPr>
              <a:t>A quick guide for everyday decisions</a:t>
            </a:r>
            <a:endParaRPr lang="en-US" sz="1300" dirty="0"/>
          </a:p>
        </p:txBody>
      </p:sp>
      <p:pic>
        <p:nvPicPr>
          <p:cNvPr id="5" name="Image 0" descr="/Users/adelie/Projects/gemma4good/risklen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384048"/>
            <a:ext cx="2057400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64208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84708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1637"/>
                </a:solidFill>
              </a:rPr>
              <a:t>Score = overall chemical / material / processing concern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0" y="1847088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71637"/>
                </a:solidFill>
              </a:rPr>
              <a:t>Flags = the reasons behind the score, such as dyes, processing byproducts, or nutrition notes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8368" y="2697480"/>
            <a:ext cx="1874520" cy="196596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95528" y="2862072"/>
            <a:ext cx="1600200" cy="438912"/>
          </a:xfrm>
          <a:prstGeom prst="roundRect">
            <a:avLst>
              <a:gd name="adj" fmla="val 25000"/>
            </a:avLst>
          </a:prstGeom>
          <a:solidFill>
            <a:srgbClr val="2E9E5D"/>
          </a:solidFill>
          <a:ln w="12700">
            <a:solidFill>
              <a:srgbClr val="2E9E5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" y="297180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 / 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04672" y="34930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Low concern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4672" y="38221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A7A"/>
                </a:solidFill>
              </a:rPr>
              <a:t>Use with confidence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418795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8"/>
                </a:solidFill>
              </a:rPr>
              <a:t>No major warning signal found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871216" y="2697480"/>
            <a:ext cx="1874520" cy="196596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008376" y="2862072"/>
            <a:ext cx="1600200" cy="438912"/>
          </a:xfrm>
          <a:prstGeom prst="roundRect">
            <a:avLst>
              <a:gd name="adj" fmla="val 25000"/>
            </a:avLst>
          </a:prstGeom>
          <a:solidFill>
            <a:srgbClr val="7CCB55"/>
          </a:solidFill>
          <a:ln w="12700">
            <a:solidFill>
              <a:srgbClr val="7CCB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08376" y="297180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 / 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017520" y="34930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Mild concern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017520" y="38221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A7A"/>
                </a:solidFill>
              </a:rPr>
              <a:t>Usually fine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035808" y="418795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8"/>
                </a:solidFill>
              </a:rPr>
              <a:t>Small or low-confidence signal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84064" y="2697480"/>
            <a:ext cx="1874520" cy="196596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21224" y="2862072"/>
            <a:ext cx="1600200" cy="438912"/>
          </a:xfrm>
          <a:prstGeom prst="roundRect">
            <a:avLst>
              <a:gd name="adj" fmla="val 25000"/>
            </a:avLst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21224" y="297180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 / 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230368" y="34930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Moderate concern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230368" y="38221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A7A"/>
                </a:solidFill>
              </a:rPr>
              <a:t>Use thoughtfully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248656" y="418795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8"/>
                </a:solidFill>
              </a:rPr>
              <a:t>Limit frequent use if easy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296912" y="2697480"/>
            <a:ext cx="1874520" cy="196596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34072" y="2862072"/>
            <a:ext cx="1600200" cy="438912"/>
          </a:xfrm>
          <a:prstGeom prst="roundRect">
            <a:avLst>
              <a:gd name="adj" fmla="val 25000"/>
            </a:avLst>
          </a:prstGeom>
          <a:solidFill>
            <a:srgbClr val="F28A2E"/>
          </a:solidFill>
          <a:ln w="12700">
            <a:solidFill>
              <a:srgbClr val="F28A2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34072" y="297180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 / 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443216" y="34930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High concern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443216" y="38221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A7A"/>
                </a:solidFill>
              </a:rPr>
              <a:t>Prefer alternatives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461504" y="418795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8"/>
                </a:solidFill>
              </a:rPr>
              <a:t>Reduce repeated exposure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9509760" y="2697480"/>
            <a:ext cx="1874520" cy="196596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646920" y="2862072"/>
            <a:ext cx="1600200" cy="438912"/>
          </a:xfrm>
          <a:prstGeom prst="roundRect">
            <a:avLst>
              <a:gd name="adj" fmla="val 25000"/>
            </a:avLst>
          </a:prstGeom>
          <a:solidFill>
            <a:srgbClr val="D94747"/>
          </a:solidFill>
          <a:ln w="12700">
            <a:solidFill>
              <a:srgbClr val="D9474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46920" y="297180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 / 5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9656064" y="34930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Very high concern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9656064" y="38221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A7A"/>
                </a:solidFill>
              </a:rPr>
              <a:t>Avoid if possible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674352" y="418795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8"/>
                </a:solidFill>
              </a:rPr>
              <a:t>Strong signal or direct warning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86384" y="502920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F1F5"/>
          </a:solidFill>
          <a:ln w="12700">
            <a:solidFill>
              <a:srgbClr val="FFF1F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59536" y="5079492"/>
            <a:ext cx="950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637"/>
                </a:solidFill>
              </a:rPr>
              <a:t>Example flags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2048256" y="502920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FF1F5"/>
          </a:solidFill>
          <a:ln w="12700">
            <a:solidFill>
              <a:srgbClr val="FFF1F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121408" y="5079492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637"/>
                </a:solidFill>
              </a:rPr>
              <a:t>Ingredient note: Red 40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767328" y="5029200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840480" y="5079492"/>
            <a:ext cx="1636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637"/>
                </a:solidFill>
              </a:rPr>
              <a:t>Process signal: acrylamide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715000" y="5029200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788152" y="5079492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637"/>
                </a:solidFill>
              </a:rPr>
              <a:t>Nutrition note: high sugar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49808" y="559612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A7A"/>
                </a:solidFill>
              </a:rPr>
              <a:t>Important: a flag is a reason to look closer, not proof that one product is unsafe.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RiskLens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RiskLens - Three slide explainer</dc:title>
  <dc:subject>RiskLens presentation slides</dc:subject>
  <dc:creator>RiskLens</dc:creator>
  <cp:lastModifiedBy>RiskLens</cp:lastModifiedBy>
  <cp:revision>1</cp:revision>
  <dcterms:created xsi:type="dcterms:W3CDTF">2026-05-18T18:33:40Z</dcterms:created>
  <dcterms:modified xsi:type="dcterms:W3CDTF">2026-05-18T18:33:40Z</dcterms:modified>
</cp:coreProperties>
</file>